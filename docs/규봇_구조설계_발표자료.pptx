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B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1512" y="1005840"/>
            <a:ext cx="2377440" cy="56692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51592" y="2194560"/>
            <a:ext cx="1737360" cy="56692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85832" y="3383280"/>
            <a:ext cx="2103120" cy="56692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25912" y="4572000"/>
            <a:ext cx="1463040" cy="56692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60152" y="5577840"/>
            <a:ext cx="1828800" cy="56692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79A3E"/>
                </a:solidFill>
                <a:latin typeface="맑은 고딕"/>
              </a:rPr>
              <a:t>구조 설계 리뷰 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맑은 고딕"/>
              </a:rPr>
              <a:t>규봇</a:t>
            </a:r>
          </a:p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8F9EC4"/>
                </a:solidFill>
                <a:latin typeface="맑은 고딕"/>
              </a:rPr>
              <a:t>  GyuBot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D7DEEC"/>
                </a:solidFill>
                <a:latin typeface="맑은 고딕"/>
              </a:rPr>
              <a:t>사내 규정·문서 기반 AI 지식검색 서비스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BA6C2"/>
                </a:solidFill>
                <a:latin typeface="맑은 고딕"/>
              </a:rPr>
              <a:t>개발에 들어가기 전, 저희가 어떤 구조로 이 서비스를 만들려고 하는지 말씀드리겠습니다.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434840"/>
            <a:ext cx="4069080" cy="0"/>
          </a:xfrm>
          <a:prstGeom prst="line">
            <a:avLst/>
          </a:prstGeom>
          <a:ln w="12700">
            <a:solidFill>
              <a:srgbClr val="33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6177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PM  서준영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560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F9EC4"/>
                </a:solidFill>
                <a:latin typeface="맑은 고딕"/>
              </a:rPr>
              <a:t>울산 2반 · 사내 규정관리팀 미팅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172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F9EC4"/>
                </a:solidFill>
                <a:latin typeface="맑은 고딕"/>
              </a:rPr>
              <a:t>2026. 08. 20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오늘 이 순서로 말씀드리겠습니다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874519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왜 이 프로젝트인가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21991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현장에서 반복되는 문제와, 저희가 잡은 목표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32887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2601467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146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19755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규봇이 하는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4893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AI 질의응답의 컨셉과 사용자 흐름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259835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3328415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46703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화면과 개발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75887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메뉴 구조, 요구사항 18건 정리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3986783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4055363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536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7365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어떤 구조로 만드는가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02835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마이크로서비스·비동기 처리·RAG 설계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713731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4782311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8231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0059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데이터·보안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29783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테이블 구조와 회사별 데이터 격리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5440679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0080" y="5509259"/>
            <a:ext cx="566928" cy="566928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0925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54A6"/>
                </a:solidFill>
                <a:latin typeface="맑은 고딕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2754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2733"/>
                </a:solidFill>
                <a:latin typeface="맑은 고딕"/>
              </a:rPr>
              <a:t>기대 효과와 다음 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856731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372"/>
                </a:solidFill>
                <a:latin typeface="맑은 고딕"/>
              </a:rPr>
              <a:t>오늘 이후 진행 순서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지금 현장에서는 이런 일이 반복되고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기획서 1.1~1.2 추진 배경 검토 내용을 바탕으로 정리했습니다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192024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456432" cy="73152"/>
          </a:xfrm>
          <a:prstGeom prst="rect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54A6"/>
                </a:solidFill>
                <a:latin typeface="맑은 고딕"/>
              </a:rPr>
              <a:t>임직원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22733"/>
                </a:solidFill>
                <a:latin typeface="맑은 고딕"/>
              </a:rPr>
              <a:t>규정이 여기저기 흩어져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11880"/>
            <a:ext cx="29443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사내 규정, 복리후생, 결재선 지정 기준, 일상감사·사전심사 기준이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비정형 문서 형태로 여러 게시판에 산재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92024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920240"/>
            <a:ext cx="3456432" cy="73152"/>
          </a:xfrm>
          <a:prstGeom prst="rect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1284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54A6"/>
                </a:solidFill>
                <a:latin typeface="맑은 고딕"/>
              </a:rPr>
              <a:t>임직원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60604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22733"/>
                </a:solidFill>
                <a:latin typeface="맑은 고딕"/>
              </a:rPr>
              <a:t>바뀐 규정을 놓칩니다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611880"/>
            <a:ext cx="29443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기안자가 개정 내용을 미처 확인하지 못하고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과거 절차대로 작성 → 반려·재상신 반복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920240"/>
            <a:ext cx="34564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920240"/>
            <a:ext cx="3456432" cy="73152"/>
          </a:xfrm>
          <a:prstGeom prst="rect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54A6"/>
                </a:solidFill>
                <a:latin typeface="맑은 고딕"/>
              </a:rPr>
              <a:t>규정 담당자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22733"/>
                </a:solidFill>
                <a:latin typeface="맑은 고딕"/>
              </a:rPr>
              <a:t>담당자는 같은 질문에 계속 답합니다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11880"/>
            <a:ext cx="29443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개별 문의·안내 반복 대응으로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맑은 고딕"/>
              </a:rPr>
              <a:t>제·개정, 주요 검토 같은 본연 업무 집중도 저하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이 문제들을, 규봇은 이렇게 풀려고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비즈니스 목표 5가지 (기획서 1.3)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4519"/>
          <a:ext cx="10908792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7881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지금의 문제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규봇의 접근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문서가 흩어져 있어 원하는 규정을 못 찾음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AI 질의응답 + 근거(조항·출처) 제시로 확인·준비 시간 단축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개정 내용을 놓쳐 반려·재상신이 반복됨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최신 문서 기반 결재선·사전심사 안내로 재상신 비율 절감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담당자가 같은 질문에 반복 응대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단순 문의는 AI가 대체 — 담당자는 본연 업무에 집중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어떤 규정이 자주 헷갈리는지 파악이 안 됨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질문 키워드·미답변 항목을 통계 대시보드로 시각화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여러 회사가 함께 쓰되 데이터는 섞이면 안 됨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회사별 데이터 격리 + 관리자 2차 인증 + 권한별 문서 제어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규봇, 한 문장으로 정의하면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920240"/>
            <a:ext cx="10908792" cy="96012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2254A6"/>
                </a:solidFill>
                <a:latin typeface="맑은 고딕"/>
              </a:rPr>
              <a:t>사내 규정·지침 문서를 학습해, 질문에 근거 문서와 함께 답하는 RAG 기반 AI 질의응답 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3438144"/>
            <a:ext cx="384048" cy="384048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38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968496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22733"/>
                </a:solidFill>
                <a:latin typeface="맑은 고딕"/>
              </a:rPr>
              <a:t>근거를 반드시 함께 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617720"/>
            <a:ext cx="29809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372"/>
                </a:solidFill>
                <a:latin typeface="맑은 고딕"/>
              </a:rPr>
              <a:t>AI가 답만 던지지 않습니다. 어떤 문서 몇 조 몇 페이지에서 나온 답인지 원문 하이라이팅까지 함께 보여줘, 사용자가 직접 신뢰성을 확인할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32004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0288" y="3438144"/>
            <a:ext cx="384048" cy="384048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3438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968496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22733"/>
                </a:solidFill>
                <a:latin typeface="맑은 고딕"/>
              </a:rPr>
              <a:t>여러 회사가 함께, 그러나 데이터는 완전히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617720"/>
            <a:ext cx="29809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372"/>
                </a:solidFill>
                <a:latin typeface="맑은 고딕"/>
              </a:rPr>
              <a:t>하나의 서비스를 여러 기업이 사용하되, 도메인·Tenant ID 기준으로 데이터가 논리적으로 격리됩니다. 회사 A의 질문에 회사 B의 규정이 섞여 들어갈 수 없습니다.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32004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3438144"/>
            <a:ext cx="384048" cy="384048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438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968496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22733"/>
                </a:solidFill>
                <a:latin typeface="맑은 고딕"/>
              </a:rPr>
              <a:t>느린 작업은 사용자 응답을 막지 않음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617720"/>
            <a:ext cx="29809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372"/>
                </a:solidFill>
                <a:latin typeface="맑은 고딕"/>
              </a:rPr>
              <a:t>문서 업로드처럼 시간이 걸리는 작업은 Kafka로 비동기 처리해, 관리자가 파일을 올리는 동안에도 서비스는 계속 빠르게 응답합니다.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규봇을 쓰는 세 종류의 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화면설계서 2.2.2 사용자 유형 정의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908792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57600"/>
                <a:gridCol w="51480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목적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733"/>
                          </a:solidFill>
                          <a:latin typeface="맑은 고딕"/>
                        </a:rPr>
                        <a:t>임직원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사내 규정 및 업무 절차 확인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AI 질의응답, 근거 문서 확인, 질의 이력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733"/>
                          </a:solidFill>
                          <a:latin typeface="맑은 고딕"/>
                        </a:rPr>
                        <a:t>규정 관리자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사내 규정 문서 및 회원 관리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문서 등록/수정/삭제, 회원 승인, 질의 현황 확인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733"/>
                          </a:solidFill>
                          <a:latin typeface="맑은 고딕"/>
                        </a:rPr>
                        <a:t>시스템 관리자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서비스 및 권한 관리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B6372"/>
                          </a:solidFill>
                          <a:latin typeface="맑은 고딕"/>
                        </a:rPr>
                        <a:t>관리자 계정 관리, 테넌트 관리, 권한 설정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USER FLOW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임직원이 규정을 확인하는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기획서 2.2.4-1) 임직원 AI 질의응답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로그인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이메일/PW 인증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4852" y="281178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00884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질문 입력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궁금한 규정을 자연어로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05656" y="281178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1688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AI 답변 생성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RAG 기반 검색·생성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6460" y="281178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2492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근거 문서 확인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문서명·조항·페이지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7264" y="281178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83296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5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원문 확인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하이라이팅된 원문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88068" y="281178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44100" y="2286000"/>
            <a:ext cx="1604772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6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다운로드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권한이 있는 경우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10908792" cy="17373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41648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250">
                <a:solidFill>
                  <a:srgbClr val="5B6372"/>
                </a:solidFill>
                <a:latin typeface="맑은 고딕"/>
              </a:rPr>
              <a:t>핵심은 4번 '근거 문서 확인'입니다 — AI 답변만 보여주는 게 아니라, REQ-F-007에 따라 답변의 근거가 된 문서·조항·페이지를 항상 함께 노출합니다.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250">
                <a:solidFill>
                  <a:srgbClr val="5B6372"/>
                </a:solidFill>
                <a:latin typeface="맑은 고딕"/>
              </a:rPr>
              <a:t>REQ-F-008에 따라 문서 보안등급에 따라 원본 다운로드는 제한될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USER FLOW · B,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관리자가 규정을 등록하고, 예외 가입을 승인하는 흐름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54A6"/>
                </a:solidFill>
                <a:latin typeface="맑은 고딕"/>
              </a:rPr>
              <a:t>B.  규정 문서 등록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97693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관리자 로그인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7012" y="26289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73044" y="2194560"/>
            <a:ext cx="197693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OTP 2차 인증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9976" y="26289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6008" y="2194560"/>
            <a:ext cx="197693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문서 업로드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2940" y="26289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38972" y="2194560"/>
            <a:ext cx="197693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파싱 · Chunking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15904" y="26289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71936" y="2194560"/>
            <a:ext cx="197693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5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AI 검색 대상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54A6"/>
                </a:solidFill>
                <a:latin typeface="맑은 고딕"/>
              </a:rPr>
              <a:t>C.  회사 이메일이 없는 사용자의 예외 가입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명함/재직증명서 업로드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75254" y="42291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31286" y="379476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가입 신청 접수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6460" y="42291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22492" y="379476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관리자 검토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22910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13698" y="379476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승인/반려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18304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372"/>
                </a:solidFill>
                <a:latin typeface="맑은 고딕"/>
              </a:rPr>
              <a:t>승인 시 계정 활성화 / 반려 시 사유를 이메일로 안내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02352"/>
            <a:ext cx="10908792" cy="118872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85232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200">
                <a:solidFill>
                  <a:srgbClr val="5B6372"/>
                </a:solidFill>
                <a:latin typeface="맑은 고딕"/>
              </a:rPr>
              <a:t>B는 REQ-F-012, 파일당 최대 50MB의 PDF·HWP를 지원하며 처리는 비동기(Kafka)로 진행됩니다.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200">
                <a:solidFill>
                  <a:srgbClr val="5B6372"/>
                </a:solidFill>
                <a:latin typeface="맑은 고딕"/>
              </a:rPr>
              <a:t>C는 REQ-F-002·003 — JPG/PNG/PDF 형식의 명함·재직증명서로 회사 이메일이 없는 인원도 가입할 수 있게 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전체 메뉴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화면설계서 2.2.3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1920240"/>
            <a:ext cx="5257800" cy="502920"/>
          </a:xfrm>
          <a:prstGeom prst="rect">
            <a:avLst/>
          </a:prstGeom>
          <a:solidFill>
            <a:srgbClr val="1B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임직원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AI 질의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4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새 질문 → 질문 입력 → AI 답변 → 근거 문서 → 원문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질의 이력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94176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이력 조회 / 이력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9664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내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98848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계정 정보 / 비밀번호 변경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920240"/>
            <a:ext cx="5257800" cy="502920"/>
          </a:xfrm>
          <a:prstGeom prst="rect">
            <a:avLst/>
          </a:prstGeom>
          <a:solidFill>
            <a:srgbClr val="1B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92024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관리자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6032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대시보드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889504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질문 통계 / 인기 질문 / 미답변·오답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36499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문서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94176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문서 목록 / 등록 / 상세·수정·삭제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169664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회원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498848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가입 승인 / 회원 상태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974336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관리자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530352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관리자 계정 및 권한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5779008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시스템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6108192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·  </a:t>
            </a:r>
            <a:r>
              <a:rPr sz="1150">
                <a:solidFill>
                  <a:srgbClr val="5B6372"/>
                </a:solidFill>
                <a:latin typeface="맑은 고딕"/>
              </a:rPr>
              <a:t>테넌트 및 접근 권한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09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개발 범위 — 요구사항 18건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요구사항정의서 2. 요구사항 분류 체계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0879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2286000"/>
                <a:gridCol w="587959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대분류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내용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인증/회원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5건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REQ-F-001~005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기업 이메일 인증, 예외 가입, 로그인, 비밀번호 재설정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AI 질의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5건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REQ-F-006~010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RAG 질의응답, 근거 표시, 원본 다운로드, 질의 이력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7건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REQ-F-011~017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OTP 인증, 문서 업로드·파싱, 계정/회원 관리, 통계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1건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REQ-F-018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회사별 테넌트 격리 및 데이터 접근 통제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526280"/>
            <a:ext cx="10908792" cy="1051560"/>
          </a:xfrm>
          <a:prstGeom prst="rect">
            <a:avLst/>
          </a:prstGeom>
          <a:solidFill>
            <a:srgbClr val="1B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4515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79A3E"/>
                </a:solidFill>
                <a:latin typeface="맑은 고딕"/>
              </a:rPr>
              <a:t>우선순위 High — 9건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5604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DEEC"/>
                </a:solidFill>
                <a:latin typeface="맑은 고딕"/>
              </a:rPr>
              <a:t>REQ-F-001, 004, 005, 006, 007, 011, 012, 013, 018  —  로그인·AI 질의응답·문서 관리·테넌트 격리가 1차 개발의 중심입니다.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ARCHITECTURE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왜 5개 서비스로 나누어 만드는가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74519"/>
            <a:ext cx="1090879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>
                <a:solidFill>
                  <a:srgbClr val="5B6372"/>
                </a:solidFill>
                <a:latin typeface="맑은 고딕"/>
              </a:rPr>
              <a:t>문서 파싱·임베딩처럼 오래 걸리는 작업과, 즉시 응답해야 하는 질의응답이 한 서비스 안에 있으면 한쪽이 느려질 때 같이 느려집니다.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>
                <a:solidFill>
                  <a:srgbClr val="5B6372"/>
                </a:solidFill>
                <a:latin typeface="맑은 고딕"/>
              </a:rPr>
              <a:t>인증, 문서, 대화는 담당 파트와 변경 주기가 다릅니다. 따로 배포할 수 있어야 한 기능을 고치다가 다른 기능이 멈추는 일을 막을 수 있습니다.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>
                <a:solidFill>
                  <a:srgbClr val="5B6372"/>
                </a:solidFill>
                <a:latin typeface="맑은 고딕"/>
              </a:rPr>
              <a:t>서비스가 앞으로 늘어나도 클라이언트가 각 서버 주소를 직접 알 필요 없이, Eureka가 서비스 등록·탐색을 대신합니다.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703320"/>
          <a:ext cx="10908792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31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서비스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역할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Auth Service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로그인/JWT 발급, OTP 처리, 이메일 인증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User Service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회원/마이페이지 관리, 예외 가입 승인·반려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Document Service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문서 업로드 및 S3 저장, 업로드 완료 시 Kafka 이벤트 발행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Search Service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비동기 Chunking/Vector화, 하이브리드(벡터+키워드) 검색, 색인 관리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733"/>
                          </a:solidFill>
                          <a:latin typeface="맑은 고딕"/>
                        </a:rPr>
                        <a:t>Chat Service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372"/>
                          </a:solidFill>
                          <a:latin typeface="맑은 고딕"/>
                        </a:rPr>
                        <a:t>RAG 기반 AI 대화 처리, 원본 문서 Drawer 근거 매핑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ARCHITECTURE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전체 시스템 구조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55648"/>
            <a:ext cx="2194560" cy="502920"/>
          </a:xfrm>
          <a:prstGeom prst="roundRect">
            <a:avLst>
              <a:gd name="adj" fmla="val 10000"/>
            </a:avLst>
          </a:prstGeom>
          <a:solidFill>
            <a:srgbClr val="1B2B4C"/>
          </a:solidFill>
          <a:ln w="13970">
            <a:solidFill>
              <a:srgbClr val="1B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Client (Web/App)</a:t>
            </a:r>
          </a:p>
          <a:p>
            <a:pPr algn="ctr"/>
            <a:r>
              <a:rPr sz="900">
                <a:solidFill>
                  <a:srgbClr val="5B6372"/>
                </a:solidFill>
                <a:latin typeface="맑은 고딕"/>
              </a:rPr>
              <a:t>REST API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755648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2254A6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API Gateway</a:t>
            </a:r>
          </a:p>
          <a:p>
            <a:pPr algn="ctr"/>
            <a:r>
              <a:rPr sz="900">
                <a:solidFill>
                  <a:srgbClr val="5B6372"/>
                </a:solidFill>
                <a:latin typeface="맑은 고딕"/>
              </a:rPr>
              <a:t>Eureka 기반 라우팅 · 단일 진입점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007108"/>
            <a:ext cx="1371600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2258568"/>
            <a:ext cx="0" cy="201168"/>
          </a:xfrm>
          <a:prstGeom prst="line">
            <a:avLst/>
          </a:prstGeom>
          <a:ln w="19050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79752" y="2459736"/>
            <a:ext cx="8829444" cy="0"/>
          </a:xfrm>
          <a:prstGeom prst="line">
            <a:avLst/>
          </a:prstGeom>
          <a:ln w="15875">
            <a:solidFill>
              <a:srgbClr val="4C8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79752" y="2459736"/>
            <a:ext cx="0" cy="128016"/>
          </a:xfrm>
          <a:prstGeom prst="line">
            <a:avLst/>
          </a:prstGeom>
          <a:ln w="1587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587752"/>
            <a:ext cx="207934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Auth Service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로그인·JWT·OTP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7113" y="2459736"/>
            <a:ext cx="0" cy="128016"/>
          </a:xfrm>
          <a:prstGeom prst="line">
            <a:avLst/>
          </a:prstGeom>
          <a:ln w="1587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47441" y="2587752"/>
            <a:ext cx="207934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User Service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회원·마이페이지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4" y="2459736"/>
            <a:ext cx="0" cy="128016"/>
          </a:xfrm>
          <a:prstGeom prst="line">
            <a:avLst/>
          </a:prstGeom>
          <a:ln w="1587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54802" y="2587752"/>
            <a:ext cx="207934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Document Service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업로드·S3 저장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01835" y="2459736"/>
            <a:ext cx="0" cy="128016"/>
          </a:xfrm>
          <a:prstGeom prst="line">
            <a:avLst/>
          </a:prstGeom>
          <a:ln w="1587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62163" y="2587752"/>
            <a:ext cx="207934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Search Service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Chunking·벡터검색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09196" y="2459736"/>
            <a:ext cx="0" cy="128016"/>
          </a:xfrm>
          <a:prstGeom prst="line">
            <a:avLst/>
          </a:prstGeom>
          <a:ln w="1587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9524" y="2587752"/>
            <a:ext cx="207934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Chat Service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RAG 대화 처리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9474" y="3392424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C79A3E"/>
          </a:solidFill>
          <a:ln w="13970">
            <a:solidFill>
              <a:srgbClr val="C79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Apache Kafka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document.uploaded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4474" y="3191256"/>
            <a:ext cx="235000" cy="201168"/>
          </a:xfrm>
          <a:prstGeom prst="line">
            <a:avLst/>
          </a:prstGeom>
          <a:ln w="15875">
            <a:solidFill>
              <a:srgbClr val="B086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66834" y="3191256"/>
            <a:ext cx="235001" cy="201168"/>
          </a:xfrm>
          <a:prstGeom prst="line">
            <a:avLst/>
          </a:prstGeom>
          <a:ln w="15875">
            <a:solidFill>
              <a:srgbClr val="B086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160520"/>
            <a:ext cx="2079345" cy="566928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3970">
            <a:solidFill>
              <a:srgbClr val="93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Redis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OTP·Refresh Token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79752" y="3191256"/>
            <a:ext cx="0" cy="969264"/>
          </a:xfrm>
          <a:prstGeom prst="line">
            <a:avLst/>
          </a:prstGeom>
          <a:ln w="13970">
            <a:solidFill>
              <a:srgbClr val="939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47441" y="4160520"/>
            <a:ext cx="2079345" cy="566928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3970">
            <a:solidFill>
              <a:srgbClr val="93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외부 메일 서비스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인증·승인 메일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87113" y="3191256"/>
            <a:ext cx="0" cy="969264"/>
          </a:xfrm>
          <a:prstGeom prst="line">
            <a:avLst/>
          </a:prstGeom>
          <a:ln w="13970">
            <a:solidFill>
              <a:srgbClr val="939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54802" y="4160520"/>
            <a:ext cx="2079345" cy="566928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3970">
            <a:solidFill>
              <a:srgbClr val="93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Amazon S3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원본 파일 저장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4" y="3191256"/>
            <a:ext cx="0" cy="969264"/>
          </a:xfrm>
          <a:prstGeom prst="line">
            <a:avLst/>
          </a:prstGeom>
          <a:ln w="13970">
            <a:solidFill>
              <a:srgbClr val="939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62163" y="4160520"/>
            <a:ext cx="2079345" cy="566928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3970">
            <a:solidFill>
              <a:srgbClr val="93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Vector DB &amp; ES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벡터·전문 검색 색인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01835" y="3191256"/>
            <a:ext cx="0" cy="969264"/>
          </a:xfrm>
          <a:prstGeom prst="line">
            <a:avLst/>
          </a:prstGeom>
          <a:ln w="13970">
            <a:solidFill>
              <a:srgbClr val="939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69524" y="4160520"/>
            <a:ext cx="2079345" cy="566928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3970">
            <a:solidFill>
              <a:srgbClr val="93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733"/>
                </a:solidFill>
                <a:latin typeface="맑은 고딕"/>
              </a:rPr>
              <a:t>외부 LLM API</a:t>
            </a:r>
          </a:p>
          <a:p>
            <a:pPr algn="ctr"/>
            <a:r>
              <a:rPr sz="850">
                <a:solidFill>
                  <a:srgbClr val="5B6372"/>
                </a:solidFill>
                <a:latin typeface="맑은 고딕"/>
              </a:rPr>
              <a:t>OpenAI · Claude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09196" y="3191256"/>
            <a:ext cx="0" cy="969264"/>
          </a:xfrm>
          <a:prstGeom prst="line">
            <a:avLst/>
          </a:prstGeom>
          <a:ln w="13970">
            <a:solidFill>
              <a:srgbClr val="939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40080" y="4956048"/>
            <a:ext cx="10908792" cy="1051560"/>
          </a:xfrm>
          <a:prstGeom prst="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102352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00">
                <a:solidFill>
                  <a:srgbClr val="5B6372"/>
                </a:solidFill>
                <a:latin typeface="맑은 고딕"/>
              </a:rPr>
              <a:t>문서 업로드 완료 → Document Service가 Kafka로 이벤트 발행 → Search Service가 비동기로 수신해 Chunking·색인을 수행합니다. 이 구조 덕분에 대용량 문서 처리가 사용자 요청·응답 흐름을 지연시키지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ARCHITECTURE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왜 문서 업로드는 비동기로 처리하는가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286000"/>
            <a:ext cx="1976932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문서 업로드 완료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Document 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17012" y="276606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3044" y="2286000"/>
            <a:ext cx="1976932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이벤트 발행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document.uploaded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9976" y="276606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06008" y="2286000"/>
            <a:ext cx="1976932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비동기 수신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Search 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2940" y="276606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38972" y="2286000"/>
            <a:ext cx="1976932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Chunking · Vector화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임베딩 생성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15904" y="2766060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71936" y="2286000"/>
            <a:ext cx="1976932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5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색인 완료</a:t>
            </a:r>
          </a:p>
          <a:p>
            <a:pPr algn="ctr"/>
            <a:r>
              <a:rPr sz="950">
                <a:solidFill>
                  <a:srgbClr val="5B6372"/>
                </a:solidFill>
                <a:latin typeface="맑은 고딕"/>
              </a:rPr>
              <a:t>AI 검색 대상 등록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109087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 b="1">
                <a:solidFill>
                  <a:srgbClr val="222733"/>
                </a:solidFill>
                <a:latin typeface="맑은 고딕"/>
              </a:rPr>
              <a:t>체감 속도:  </a:t>
            </a:r>
            <a:r>
              <a:rPr sz="1300">
                <a:solidFill>
                  <a:srgbClr val="5B6372"/>
                </a:solidFill>
                <a:latin typeface="맑은 고딕"/>
              </a:rPr>
              <a:t>50MB짜리 규정집을 업로드해도 관리자는 파싱이 끝날 때까지 화면 앞에서 기다리지 않습니다.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 b="1">
                <a:solidFill>
                  <a:srgbClr val="222733"/>
                </a:solidFill>
                <a:latin typeface="맑은 고딕"/>
              </a:rPr>
              <a:t>독립적 확장:  </a:t>
            </a:r>
            <a:r>
              <a:rPr sz="1300">
                <a:solidFill>
                  <a:srgbClr val="5B6372"/>
                </a:solidFill>
                <a:latin typeface="맑은 고딕"/>
              </a:rPr>
              <a:t>Document Service와 Search Service가 서로의 처리 속도에 영향을 주지 않고 각자 확장됩니다.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300" b="1">
                <a:solidFill>
                  <a:srgbClr val="222733"/>
                </a:solidFill>
                <a:latin typeface="맑은 고딕"/>
              </a:rPr>
              <a:t>데이터 정합성:  </a:t>
            </a:r>
            <a:r>
              <a:rPr sz="1300">
                <a:solidFill>
                  <a:srgbClr val="5B6372"/>
                </a:solidFill>
                <a:latin typeface="맑은 고딕"/>
              </a:rPr>
              <a:t>색인이 끝나기 전까지 해당 문서는 검색 결과에 노출되지 않아, 처리 중인 데이터가 답변에 섞이지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ARCHITECTURE 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왜 '그냥 챗GPT'가 아니라 RAG인가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874519"/>
            <a:ext cx="5257800" cy="1691640"/>
          </a:xfrm>
          <a:prstGeom prst="rect">
            <a:avLst/>
          </a:prstGeom>
          <a:solidFill>
            <a:srgbClr val="F6F7FA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44A3E"/>
                </a:solidFill>
                <a:latin typeface="맑은 고딕"/>
              </a:rPr>
              <a:t>일반 AI 챗봇이라면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B44A3E"/>
                </a:solidFill>
                <a:latin typeface="맑은 고딕"/>
              </a:rPr>
              <a:t>—  </a:t>
            </a:r>
            <a:r>
              <a:rPr sz="1150">
                <a:solidFill>
                  <a:srgbClr val="5B6372"/>
                </a:solidFill>
                <a:latin typeface="맑은 고딕"/>
              </a:rPr>
              <a:t>사내 규정을 모른 채 그럴듯한 답을 만들어냄 (환각 위험)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B44A3E"/>
                </a:solidFill>
                <a:latin typeface="맑은 고딕"/>
              </a:rPr>
              <a:t>—  </a:t>
            </a:r>
            <a:r>
              <a:rPr sz="1150">
                <a:solidFill>
                  <a:srgbClr val="5B6372"/>
                </a:solidFill>
                <a:latin typeface="맑은 고딕"/>
              </a:rPr>
              <a:t>출처를 제시할 수 없어 사실 확인이 불가능함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B44A3E"/>
                </a:solidFill>
                <a:latin typeface="맑은 고딕"/>
              </a:rPr>
              <a:t>—  </a:t>
            </a:r>
            <a:r>
              <a:rPr sz="1150">
                <a:solidFill>
                  <a:srgbClr val="5B6372"/>
                </a:solidFill>
                <a:latin typeface="맑은 고딕"/>
              </a:rPr>
              <a:t>규정이 개정돼도 답변에 반영되지 않음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4519"/>
            <a:ext cx="5257800" cy="1691640"/>
          </a:xfrm>
          <a:prstGeom prst="rect">
            <a:avLst/>
          </a:prstGeom>
          <a:solidFill>
            <a:srgbClr val="E9F0FB"/>
          </a:solidFill>
          <a:ln w="12700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116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54A6"/>
                </a:solidFill>
                <a:latin typeface="맑은 고딕"/>
              </a:rPr>
              <a:t>규봇(RAG)은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395728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50">
                <a:solidFill>
                  <a:srgbClr val="222733"/>
                </a:solidFill>
                <a:latin typeface="맑은 고딕"/>
              </a:rPr>
              <a:t>실제 등록된 규정 문서에서 근거를 찾아 답변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50">
                <a:solidFill>
                  <a:srgbClr val="222733"/>
                </a:solidFill>
                <a:latin typeface="맑은 고딕"/>
              </a:rPr>
              <a:t>문서명·조항·페이지까지 표시해 검증 가능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50">
                <a:solidFill>
                  <a:srgbClr val="222733"/>
                </a:solidFill>
                <a:latin typeface="맑은 고딕"/>
              </a:rPr>
              <a:t>문서를 갱신하면 다음 질의부터 바로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54A6"/>
                </a:solidFill>
                <a:latin typeface="맑은 고딕"/>
              </a:rPr>
              <a:t>RAG 처리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문서 업로드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5254" y="45354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31286" y="41605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텍스트 추출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6460" y="45354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2492" y="41605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Chunking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7666" y="45354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13698" y="41605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임베딩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1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Vector DB 저장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75254" y="54498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31286" y="50749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2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사용자 질문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6460" y="54498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22492" y="50749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3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관련 문서 검색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57666" y="5449824"/>
            <a:ext cx="256032" cy="0"/>
          </a:xfrm>
          <a:prstGeom prst="line">
            <a:avLst/>
          </a:prstGeom>
          <a:ln w="22225">
            <a:solidFill>
              <a:srgbClr val="4C86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13698" y="5074920"/>
            <a:ext cx="2535174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2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2254A6"/>
                </a:solidFill>
                <a:latin typeface="맑은 고딕"/>
              </a:rPr>
              <a:t>4</a:t>
            </a:r>
          </a:p>
          <a:p>
            <a:pPr algn="ctr"/>
            <a:r>
              <a:rPr sz="1250" b="1">
                <a:solidFill>
                  <a:srgbClr val="222733"/>
                </a:solidFill>
                <a:latin typeface="맑은 고딕"/>
              </a:rPr>
              <a:t>답변 + 근거 반환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데이터 구조 — 10개 테이블, 4개 도메인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372"/>
                </a:solidFill>
                <a:latin typeface="맑은 고딕"/>
              </a:rPr>
              <a:t>데이터모델링 1.3~1.4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0879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4165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테이블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733"/>
                          </a:solidFill>
                          <a:latin typeface="맑은 고딕"/>
                        </a:rPr>
                        <a:t>회원/기업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company, users, signup_application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테넌트(회사)·계정·예외 가입 관리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733"/>
                          </a:solidFill>
                          <a:latin typeface="맑은 고딕"/>
                        </a:rPr>
                        <a:t>문서/카테고리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document, category, document_category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규정 원본 파일 및 카테고리 N:M 매핑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733"/>
                          </a:solidFill>
                          <a:latin typeface="맑은 고딕"/>
                        </a:rPr>
                        <a:t>RAG/지식베이스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document_chunk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분할 텍스트 + Vector DB ID 매핑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733"/>
                          </a:solidFill>
                          <a:latin typeface="맑은 고딕"/>
                        </a:rPr>
                        <a:t>AI 대화 이력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chat_session, chat_message, answer_source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6372"/>
                          </a:solidFill>
                          <a:latin typeface="맑은 고딕"/>
                        </a:rPr>
                        <a:t>대화방 · 메시지 · 답변 근거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434840"/>
            <a:ext cx="10908792" cy="1234440"/>
          </a:xfrm>
          <a:prstGeom prst="rect">
            <a:avLst/>
          </a:prstGeom>
          <a:solidFill>
            <a:srgbClr val="1B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50">
                <a:solidFill>
                  <a:srgbClr val="D7DEEC"/>
                </a:solidFill>
                <a:latin typeface="맑은 고딕"/>
              </a:rPr>
              <a:t>company를 최상위 테넌트로 users·document가 파생되고, document 아래 document_chunk, 사용자 활동 아래 chat_session → chat_message → answer_source로 이어집니다.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2254A6"/>
                </a:solidFill>
                <a:latin typeface="맑은 고딕"/>
              </a:rPr>
              <a:t>—  </a:t>
            </a:r>
            <a:r>
              <a:rPr sz="1150">
                <a:solidFill>
                  <a:srgbClr val="D7DEEC"/>
                </a:solidFill>
                <a:latin typeface="맑은 고딕"/>
              </a:rPr>
              <a:t>문서를 삭제하면 document_chunk까지 Vector DB에서 즉시 제거해, 삭제된 문서가 검색·답변에 남지 않도록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보안 및 멀티테넌시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20240"/>
          <a:ext cx="10908792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313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설계 내용</a:t>
                      </a:r>
                    </a:p>
                  </a:txBody>
                  <a:tcPr marL="101600" marR="101600" marT="38100" marB="38100" anchor="ctr">
                    <a:solidFill>
                      <a:srgbClr val="2254A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일반 로그인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이메일 도메인으로 소속 회사 자동 식별 + JWT 발급. 미승인·비활성 계정은 로그인 차단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관리자 로그인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ID/PW 인증 + Google OTP 2차 인증. 2차 인증 실패 시 접근 차단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문서 접근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문서 보안등급에 따라 원본 다운로드 제한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데이터 격리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회사별 이메일 도메인·Tenant ID 기준 논리적 격리 — AI 질의도 소속 회사 문서만 검색</a:t>
                      </a:r>
                    </a:p>
                  </a:txBody>
                  <a:tcPr marL="101600" marR="101600" marT="38100" marB="38100" anchor="ctr">
                    <a:solidFill>
                      <a:srgbClr val="E9F0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733"/>
                          </a:solidFill>
                          <a:latin typeface="맑은 고딕"/>
                        </a:rPr>
                        <a:t>데이터 삭제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B6372"/>
                          </a:solidFill>
                          <a:latin typeface="맑은 고딕"/>
                        </a:rPr>
                        <a:t>문서 삭제 시 Vector DB에서도 즉시 제거해 검색 대상에서 제외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54A6"/>
                </a:solidFill>
                <a:latin typeface="맑은 고딕"/>
              </a:rP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2733"/>
                </a:solidFill>
                <a:latin typeface="맑은 고딕"/>
              </a:rPr>
              <a:t>그래서, 무엇이 달라지나요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733"/>
                </a:solidFill>
                <a:latin typeface="맑은 고딕"/>
              </a:rPr>
              <a:t>규정 확인 시간 단축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96596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372"/>
                </a:solidFill>
                <a:latin typeface="맑은 고딕"/>
              </a:rPr>
              <a:t>AI 질의응답 + 근거 제시로 확인·준비 시간 감소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624328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4320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733"/>
                </a:solidFill>
                <a:latin typeface="맑은 고딕"/>
              </a:rPr>
              <a:t>재기안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4320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372"/>
                </a:solidFill>
                <a:latin typeface="맑은 고딕"/>
              </a:rPr>
              <a:t>최신 문서 기반 안내로 결재선·사전심사 오적용 방지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01568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204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733"/>
                </a:solidFill>
                <a:latin typeface="맑은 고딕"/>
              </a:rPr>
              <a:t>담당자 공수 절감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52044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372"/>
                </a:solidFill>
                <a:latin typeface="맑은 고딕"/>
              </a:rPr>
              <a:t>단순 문의는 AI가 대체, 본연 업무(제·개정 검토)에 집중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4178808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29768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733"/>
                </a:solidFill>
                <a:latin typeface="맑은 고딕"/>
              </a:rPr>
              <a:t>선제적 규정 보완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29768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372"/>
                </a:solidFill>
                <a:latin typeface="맑은 고딕"/>
              </a:rPr>
              <a:t>질문 키워드·미답변 항목 통계로 데이터 기반 파악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956048"/>
            <a:ext cx="10332720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22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749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733"/>
                </a:solidFill>
                <a:latin typeface="맑은 고딕"/>
              </a:rPr>
              <a:t>여러 회사 동시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07492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372"/>
                </a:solidFill>
                <a:latin typeface="맑은 고딕"/>
              </a:rPr>
              <a:t>테넌트 격리 + 관리자 2차 인증으로 보안 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9AA8"/>
                </a:solidFill>
                <a:latin typeface="맑은 고딕"/>
              </a:rPr>
              <a:t>규봇(GyuBot) 구조 설계 리뷰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39AA8"/>
                </a:solidFill>
                <a:latin typeface="맑은 고딕"/>
              </a:rPr>
              <a:t>17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9525">
            <a:solidFill>
              <a:srgbClr val="DC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256032" cy="256032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맑은 고딕"/>
              </a:rPr>
              <a:t>오늘 이후, 이렇게 진행하겠습니다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12700">
            <a:solidFill>
              <a:srgbClr val="2E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96596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1B2B4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9A3E"/>
                </a:solidFill>
                <a:latin typeface="맑은 고딕"/>
              </a:rPr>
              <a:t>오늘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65960"/>
            <a:ext cx="8503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맑은 고딕"/>
              </a:rPr>
              <a:t>구조 · 화면 · 데이터 설계 방향 확정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532888"/>
            <a:ext cx="0" cy="256032"/>
          </a:xfrm>
          <a:prstGeom prst="line">
            <a:avLst/>
          </a:prstGeom>
          <a:ln w="19050">
            <a:solidFill>
              <a:srgbClr val="4C5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807208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1B2B4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07208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9A3E"/>
                </a:solidFill>
                <a:latin typeface="맑은 고딕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07208"/>
            <a:ext cx="8503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맑은 고딕"/>
              </a:rPr>
              <a:t>화면 상세 컨펌 및 API 명세 최종 검토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3374136"/>
            <a:ext cx="0" cy="256032"/>
          </a:xfrm>
          <a:prstGeom prst="line">
            <a:avLst/>
          </a:prstGeom>
          <a:ln w="19050">
            <a:solidFill>
              <a:srgbClr val="4C5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3648456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1B2B4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48456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9A3E"/>
                </a:solidFill>
                <a:latin typeface="맑은 고딕"/>
              </a:rPr>
              <a:t>개발 착수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648456"/>
            <a:ext cx="8503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맑은 고딕"/>
              </a:rPr>
              <a:t>우선순위 High 요구사항부터 순차 구현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4215384"/>
            <a:ext cx="0" cy="256032"/>
          </a:xfrm>
          <a:prstGeom prst="line">
            <a:avLst/>
          </a:prstGeom>
          <a:ln w="19050">
            <a:solidFill>
              <a:srgbClr val="4C5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489704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1B2B4C"/>
          </a:solidFill>
          <a:ln w="12700">
            <a:solidFill>
              <a:srgbClr val="33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970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9A3E"/>
                </a:solidFill>
                <a:latin typeface="맑은 고딕"/>
              </a:rPr>
              <a:t>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489704"/>
            <a:ext cx="8503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맑은 고딕"/>
              </a:rPr>
              <a:t>내부 테스트 → 피드백 반영 → 오픈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349240"/>
            <a:ext cx="10908792" cy="0"/>
          </a:xfrm>
          <a:prstGeom prst="line">
            <a:avLst/>
          </a:prstGeom>
          <a:ln w="12700">
            <a:solidFill>
              <a:srgbClr val="2E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오늘 논의 주신 의견은 화면·데이터 설계에 바로 반영하겠습니다. 감사합니다.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BA6C2"/>
                </a:solidFill>
                <a:latin typeface="맑은 고딕"/>
              </a:rPr>
              <a:t>문의  |  PM 서준영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